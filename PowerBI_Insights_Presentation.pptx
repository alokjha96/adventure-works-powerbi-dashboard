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74" autoAdjust="0"/>
    <p:restoredTop sz="94660"/>
  </p:normalViewPr>
  <p:slideViewPr>
    <p:cSldViewPr snapToGrid="0">
      <p:cViewPr>
        <p:scale>
          <a:sx n="97" d="100"/>
          <a:sy n="97" d="100"/>
        </p:scale>
        <p:origin x="-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35747632-CF45-4597-B2D6-A8A4C6994C49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3ECFE165-BFF5-4A4F-906C-B9AB041FB7D8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057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47632-CF45-4597-B2D6-A8A4C6994C49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FE165-BFF5-4A4F-906C-B9AB041FB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771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47632-CF45-4597-B2D6-A8A4C6994C49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FE165-BFF5-4A4F-906C-B9AB041FB7D8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92109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47632-CF45-4597-B2D6-A8A4C6994C49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FE165-BFF5-4A4F-906C-B9AB041FB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1328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47632-CF45-4597-B2D6-A8A4C6994C49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FE165-BFF5-4A4F-906C-B9AB041FB7D8}" type="slidenum">
              <a:rPr lang="en-US" smtClean="0"/>
              <a:t>‹#›</a:t>
            </a:fld>
            <a:endParaRPr lang="en-US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08671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47632-CF45-4597-B2D6-A8A4C6994C49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FE165-BFF5-4A4F-906C-B9AB041FB7D8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5410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47632-CF45-4597-B2D6-A8A4C6994C49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FE165-BFF5-4A4F-906C-B9AB041FB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5886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47632-CF45-4597-B2D6-A8A4C6994C49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FE165-BFF5-4A4F-906C-B9AB041FB7D8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13210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47632-CF45-4597-B2D6-A8A4C6994C49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FE165-BFF5-4A4F-906C-B9AB041FB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4920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47632-CF45-4597-B2D6-A8A4C6994C49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FE165-BFF5-4A4F-906C-B9AB041FB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0870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47632-CF45-4597-B2D6-A8A4C6994C49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FE165-BFF5-4A4F-906C-B9AB041FB7D8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8415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47632-CF45-4597-B2D6-A8A4C6994C49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FE165-BFF5-4A4F-906C-B9AB041FB7D8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06511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47632-CF45-4597-B2D6-A8A4C6994C49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FE165-BFF5-4A4F-906C-B9AB041FB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9781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47632-CF45-4597-B2D6-A8A4C6994C49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FE165-BFF5-4A4F-906C-B9AB041FB7D8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1890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47632-CF45-4597-B2D6-A8A4C6994C49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FE165-BFF5-4A4F-906C-B9AB041FB7D8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247321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47632-CF45-4597-B2D6-A8A4C6994C49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FE165-BFF5-4A4F-906C-B9AB041FB7D8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49221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47632-CF45-4597-B2D6-A8A4C6994C49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FE165-BFF5-4A4F-906C-B9AB041FB7D8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84538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35747632-CF45-4597-B2D6-A8A4C6994C49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3ECFE165-BFF5-4A4F-906C-B9AB041FB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518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2B69A-783A-41D4-C5F6-44E0C047E9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30960" y="360363"/>
            <a:ext cx="9144000" cy="1041717"/>
          </a:xfrm>
        </p:spPr>
        <p:txBody>
          <a:bodyPr>
            <a:noAutofit/>
          </a:bodyPr>
          <a:lstStyle/>
          <a:p>
            <a:r>
              <a:rPr lang="en-US" sz="36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Capstone Project (Adventure Works Cycles)</a:t>
            </a:r>
            <a:br>
              <a:rPr lang="en-US" sz="36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US" sz="3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0CF0E9-78ED-30F1-5C00-BB572CE422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402080"/>
            <a:ext cx="9144000" cy="3855720"/>
          </a:xfrm>
        </p:spPr>
        <p:txBody>
          <a:bodyPr>
            <a:normAutofit lnSpcReduction="10000"/>
          </a:bodyPr>
          <a:lstStyle/>
          <a:p>
            <a:endParaRPr lang="en-US" b="1" dirty="0"/>
          </a:p>
          <a:p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Presented by:</a:t>
            </a:r>
            <a:b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Alok Jha</a:t>
            </a:r>
            <a:b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Roll No: P2527050</a:t>
            </a:r>
          </a:p>
          <a:p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Program:</a:t>
            </a:r>
            <a:b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PGDM (Finance)</a:t>
            </a:r>
          </a:p>
          <a:p>
            <a:endParaRPr lang="en-US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Institute:</a:t>
            </a:r>
            <a:b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Thakur Global Business School</a:t>
            </a:r>
          </a:p>
          <a:p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Academic Year:</a:t>
            </a:r>
            <a:b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2025–2027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76905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A01BBE3D-3A26-B7EA-08A8-7194B01D6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6140" y="758730"/>
            <a:ext cx="8158688" cy="498981"/>
          </a:xfrm>
        </p:spPr>
        <p:txBody>
          <a:bodyPr>
            <a:noAutofit/>
          </a:bodyPr>
          <a:lstStyle/>
          <a:p>
            <a:r>
              <a:rPr lang="en-US" sz="3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Background </a:t>
            </a:r>
          </a:p>
        </p:txBody>
      </p:sp>
      <p:sp>
        <p:nvSpPr>
          <p:cNvPr id="17" name="Rectangle 11">
            <a:extLst>
              <a:ext uri="{FF2B5EF4-FFF2-40B4-BE49-F238E27FC236}">
                <a16:creationId xmlns:a16="http://schemas.microsoft.com/office/drawing/2014/main" id="{E6418107-CC7F-74BB-4582-F2CA3A990EB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556553" y="1950206"/>
            <a:ext cx="8786981" cy="3693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Adventure Works Cycles is a multinational bicycle manufacturing company operating across North America, Europe, and Asia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company expanded operations by acquiring a manufacturing plant in Mexico, responsible for producing key subcomponents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business aims to: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Expand market share by targeting high-value customers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Enhance product availability through digital channels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Optimize production costs to improve profitability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0899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AB8E35-EE9B-BE19-5D3D-9858F076C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1" y="758613"/>
            <a:ext cx="9601196" cy="887308"/>
          </a:xfrm>
        </p:spPr>
        <p:txBody>
          <a:bodyPr>
            <a:normAutofit/>
          </a:bodyPr>
          <a:lstStyle/>
          <a:p>
            <a:r>
              <a:rPr lang="en-US" sz="3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Objective of the Project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BB0CE78-19FA-AC5A-41E1-773BB3A2AAD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407161" y="2489262"/>
            <a:ext cx="7918771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analyze overall sales performance and profitability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identify key products, categories, and markets driving revenue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understand customer behavior and purchasing patterns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evaluate business risks such as product and market concentration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build an interactive dashboard using Power BI for data-driven decision making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3515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02D8E-DF1C-E5FB-69F0-359897E5B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1732" y="608349"/>
            <a:ext cx="6864669" cy="885171"/>
          </a:xfrm>
        </p:spPr>
        <p:txBody>
          <a:bodyPr>
            <a:normAutofit fontScale="90000"/>
          </a:bodyPr>
          <a:lstStyle/>
          <a:p>
            <a:r>
              <a:rPr lang="en-US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&amp; Model Overview</a:t>
            </a:r>
            <a:br>
              <a:rPr lang="en-US" dirty="0"/>
            </a:br>
            <a:endParaRPr lang="en-US" dirty="0"/>
          </a:p>
        </p:txBody>
      </p:sp>
      <p:pic>
        <p:nvPicPr>
          <p:cNvPr id="16" name="Content Placeholder 15" descr="A screenshot of a computer">
            <a:extLst>
              <a:ext uri="{FF2B5EF4-FFF2-40B4-BE49-F238E27FC236}">
                <a16:creationId xmlns:a16="http://schemas.microsoft.com/office/drawing/2014/main" id="{8D69D972-7636-27DF-098A-391771ED79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920" y="1178560"/>
            <a:ext cx="10454640" cy="3294648"/>
          </a:xfrm>
        </p:spPr>
      </p:pic>
      <p:sp>
        <p:nvSpPr>
          <p:cNvPr id="17" name="Rectangle 2">
            <a:extLst>
              <a:ext uri="{FF2B5EF4-FFF2-40B4-BE49-F238E27FC236}">
                <a16:creationId xmlns:a16="http://schemas.microsoft.com/office/drawing/2014/main" id="{74008CEA-5632-0DF3-CFAF-1462337A598F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293813" y="4218326"/>
            <a:ext cx="8217762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dataset consists of Sales, Customers, Products, Calendar, and Territory tables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star schema model is used to organize the data efficiently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Sales table acts as the central fact table, capturing transaction-level information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Customers, Products, Calendar, and Territory tables act as dimension tables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Relationships between tables enable cross-filtering and interactive analysis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modeling ensures accurate and efficient reporting in Power BI </a:t>
            </a:r>
          </a:p>
        </p:txBody>
      </p:sp>
    </p:spTree>
    <p:extLst>
      <p:ext uri="{BB962C8B-B14F-4D97-AF65-F5344CB8AC3E}">
        <p14:creationId xmlns:p14="http://schemas.microsoft.com/office/powerpoint/2010/main" val="36361425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31540-8E0B-58E9-8C30-25BDCCCDF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707811"/>
            <a:ext cx="8287173" cy="938109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Sales Overview Dashboard</a:t>
            </a:r>
          </a:p>
        </p:txBody>
      </p:sp>
      <p:pic>
        <p:nvPicPr>
          <p:cNvPr id="6" name="Content Placeholder 5" descr="A screenshot of a graph">
            <a:extLst>
              <a:ext uri="{FF2B5EF4-FFF2-40B4-BE49-F238E27FC236}">
                <a16:creationId xmlns:a16="http://schemas.microsoft.com/office/drawing/2014/main" id="{27882789-9C80-9964-1553-A0FCB702A4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567" y="1553497"/>
            <a:ext cx="10390189" cy="4136101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683EDE-8452-EC03-83C4-B2E7EAEBF1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93811" y="5689599"/>
            <a:ext cx="10390189" cy="938109"/>
          </a:xfrm>
        </p:spPr>
        <p:txBody>
          <a:bodyPr>
            <a:noAutofit/>
          </a:bodyPr>
          <a:lstStyle/>
          <a:p>
            <a:pPr algn="l"/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dashboard provides an overview of sales performance, product trends, and geographic distribution.</a:t>
            </a:r>
          </a:p>
        </p:txBody>
      </p:sp>
    </p:spTree>
    <p:extLst>
      <p:ext uri="{BB962C8B-B14F-4D97-AF65-F5344CB8AC3E}">
        <p14:creationId xmlns:p14="http://schemas.microsoft.com/office/powerpoint/2010/main" val="5884751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17DA5-D328-6087-DA5F-960F1A477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8611" y="685798"/>
            <a:ext cx="7453949" cy="592666"/>
          </a:xfrm>
        </p:spPr>
        <p:txBody>
          <a:bodyPr>
            <a:noAutofit/>
          </a:bodyPr>
          <a:lstStyle/>
          <a:p>
            <a:r>
              <a:rPr lang="en-US" sz="3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Sales Insights</a:t>
            </a:r>
          </a:p>
        </p:txBody>
      </p:sp>
      <p:pic>
        <p:nvPicPr>
          <p:cNvPr id="6" name="Content Placeholder 5" descr="A blue line graph with numbers&#10;&#10;AI-generated content may be incorrect.">
            <a:extLst>
              <a:ext uri="{FF2B5EF4-FFF2-40B4-BE49-F238E27FC236}">
                <a16:creationId xmlns:a16="http://schemas.microsoft.com/office/drawing/2014/main" id="{FB750034-12C3-3533-92B5-31C2A7B80D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185" y="1371608"/>
            <a:ext cx="9973627" cy="2580632"/>
          </a:xfr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BEB4D355-D9DB-02A1-6AA1-7D17F590257C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109186" y="3952240"/>
            <a:ext cx="9973627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 sales reached 29.36M with a strong profit margin of 41%, indicating high profitability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Revenue is highly concentrated in the Bikes category (~96%), creating significant product dependency risk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Sales show a strong upward trend with a minor dip in 2012, followed by a peak in 2013 (16.4M)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sharp decline observed in 2014 is likely due to incomplete data, not actual performance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Sales are primarily concentrated in North America and Europe, with additional presence in Australia, indicating limited geographic diversification </a:t>
            </a:r>
          </a:p>
        </p:txBody>
      </p:sp>
    </p:spTree>
    <p:extLst>
      <p:ext uri="{BB962C8B-B14F-4D97-AF65-F5344CB8AC3E}">
        <p14:creationId xmlns:p14="http://schemas.microsoft.com/office/powerpoint/2010/main" val="4202732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503FF-9872-25B3-3D2F-C30355860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582887"/>
            <a:ext cx="8076331" cy="681704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 Insights Dashboard</a:t>
            </a:r>
          </a:p>
        </p:txBody>
      </p:sp>
      <p:pic>
        <p:nvPicPr>
          <p:cNvPr id="6" name="Content Placeholder 5" descr="A screenshot of a computer">
            <a:extLst>
              <a:ext uri="{FF2B5EF4-FFF2-40B4-BE49-F238E27FC236}">
                <a16:creationId xmlns:a16="http://schemas.microsoft.com/office/drawing/2014/main" id="{F4DB0E4C-FA0B-1CB6-BFB1-C2F8FBEF5E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897" y="1388532"/>
            <a:ext cx="10304205" cy="4107700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7FDD47-7DA5-81D3-88C1-37A5569CDA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79524" y="5774268"/>
            <a:ext cx="10032950" cy="337030"/>
          </a:xfrm>
        </p:spPr>
        <p:txBody>
          <a:bodyPr>
            <a:noAutofit/>
          </a:bodyPr>
          <a:lstStyle/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dashboard provides insights into customer behavior, purchasing patterns, and profitability analysis.</a:t>
            </a:r>
          </a:p>
        </p:txBody>
      </p:sp>
    </p:spTree>
    <p:extLst>
      <p:ext uri="{BB962C8B-B14F-4D97-AF65-F5344CB8AC3E}">
        <p14:creationId xmlns:p14="http://schemas.microsoft.com/office/powerpoint/2010/main" val="36444723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13A2C-B562-E3AE-AE9A-E962E0335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8015" y="702731"/>
            <a:ext cx="9855970" cy="496804"/>
          </a:xfrm>
        </p:spPr>
        <p:txBody>
          <a:bodyPr>
            <a:normAutofit fontScale="90000"/>
          </a:bodyPr>
          <a:lstStyle/>
          <a:p>
            <a:r>
              <a:rPr lang="en-US" sz="3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Customer Insights</a:t>
            </a:r>
          </a:p>
        </p:txBody>
      </p:sp>
      <p:pic>
        <p:nvPicPr>
          <p:cNvPr id="6" name="Content Placeholder 5" descr="A graph with colorful dots&#10;&#10;AI-generated content may be incorrect.">
            <a:extLst>
              <a:ext uri="{FF2B5EF4-FFF2-40B4-BE49-F238E27FC236}">
                <a16:creationId xmlns:a16="http://schemas.microsoft.com/office/drawing/2014/main" id="{70F8CA0C-0024-E375-5E38-92F89CA452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9736" y="1322369"/>
            <a:ext cx="3124469" cy="3495437"/>
          </a:xfr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C0D95466-30F8-E0BD-5D40-0F6A2AAE56BB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835741" y="985990"/>
            <a:ext cx="5181601" cy="5355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 algn="l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Top customers generate sales in the range of 13K–16K, indicating a balanced revenue distribution</a:t>
            </a:r>
          </a:p>
          <a:p>
            <a:pPr algn="l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Profit ranges between 5K–7K, reflecting a consistent margin structure (~40%) across customers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Strong linear relationship between sales and profit indicates stable and predictable profitability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Bike sales are almost evenly distributed between male and female customers (14.3M vs 14.0M), indicating a balanced customer base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Absence of major outliers suggests uniform pricing and cost structure across customers </a:t>
            </a:r>
          </a:p>
          <a:p>
            <a:pPr algn="l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70862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327951A-9941-F892-607A-A2477BFD5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669687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Strategic Insights &amp; Recommendations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76F415D-469E-601B-7269-940155930D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1730477"/>
            <a:ext cx="9601196" cy="4145391"/>
          </a:xfrm>
        </p:spPr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Heavy reliance on the Bikes category (~96% of revenue) creates significant product concentration risk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Sales are concentrated in North America and Europe, with additional presence in Australia, indicating limited geographic diversification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 revenue is well distributed with stable margins (~40%), reflecting strong operational efficiency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Balanced gender contribution in bike sales (14.3M vs 14.0M) indicates a diversified customer base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Opportunity to drive growth through product diversification, market expansion, and targeted customer strategies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39154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5B1B6-3967-DC7F-F028-03D35B6CB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876165"/>
          </a:xfrm>
        </p:spPr>
        <p:txBody>
          <a:bodyPr>
            <a:normAutofit/>
          </a:bodyPr>
          <a:lstStyle/>
          <a:p>
            <a:r>
              <a:rPr lang="en-US" sz="3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Conclusion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5C63D7C-5AB7-E6A3-1D3D-758C0577666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295402" y="2499286"/>
            <a:ext cx="9109802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business demonstrates strong sales performance and high profitability (~41% margin)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Revenue is heavily concentrated in the Bikes category (~96%), creating dependency risk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Sales show a clear growth trend with minor fluctuations, while 2014 data may be incomplete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 base is well distributed with stable margins (~40%), indicating operational efficiency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Future growth depends on diversification across products, markets, and customer strategies </a:t>
            </a:r>
          </a:p>
        </p:txBody>
      </p:sp>
    </p:spTree>
    <p:extLst>
      <p:ext uri="{BB962C8B-B14F-4D97-AF65-F5344CB8AC3E}">
        <p14:creationId xmlns:p14="http://schemas.microsoft.com/office/powerpoint/2010/main" val="31735590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D6AAE-155E-934D-477B-0E44165FB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2447138"/>
            <a:ext cx="9601196" cy="1303867"/>
          </a:xfrm>
        </p:spPr>
        <p:txBody>
          <a:bodyPr>
            <a:normAutofit/>
          </a:bodyPr>
          <a:lstStyle/>
          <a:p>
            <a:r>
              <a:rPr lang="en-US" sz="3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83053557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TM02900743[[fn=Organic]]</Template>
  <TotalTime>245</TotalTime>
  <Words>601</Words>
  <Application>Microsoft Office PowerPoint</Application>
  <PresentationFormat>Widescreen</PresentationFormat>
  <Paragraphs>81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Garamond</vt:lpstr>
      <vt:lpstr>Organic</vt:lpstr>
      <vt:lpstr>Capstone Project (Adventure Works Cycles) </vt:lpstr>
      <vt:lpstr>Project Background </vt:lpstr>
      <vt:lpstr>Objective of the Project</vt:lpstr>
      <vt:lpstr>Data &amp; Model Overview </vt:lpstr>
      <vt:lpstr>Sales Overview Dashboard</vt:lpstr>
      <vt:lpstr>Key Sales Insights</vt:lpstr>
      <vt:lpstr>Customer Insights Dashboard</vt:lpstr>
      <vt:lpstr>Key Customer Insights</vt:lpstr>
      <vt:lpstr>Strategic Insights &amp; Recommendations</vt:lpstr>
      <vt:lpstr>Conclusion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Alok Jha</dc:creator>
  <cp:lastModifiedBy>Alok Jha</cp:lastModifiedBy>
  <cp:revision>2</cp:revision>
  <dcterms:created xsi:type="dcterms:W3CDTF">2026-04-15T10:31:22Z</dcterms:created>
  <dcterms:modified xsi:type="dcterms:W3CDTF">2026-04-15T14:37:02Z</dcterms:modified>
</cp:coreProperties>
</file>