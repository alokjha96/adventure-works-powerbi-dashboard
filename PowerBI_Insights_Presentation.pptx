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7" r:id="rId10"/>
    <p:sldId id="268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4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57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921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3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86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4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86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321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492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08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41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651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78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89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473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49221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453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747632-CF45-4597-B2D6-A8A4C6994C49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ECFE165-BFF5-4A4F-906C-B9AB041FB7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51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2B69A-783A-41D4-C5F6-44E0C047E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960" y="360363"/>
            <a:ext cx="9144000" cy="1041717"/>
          </a:xfrm>
        </p:spPr>
        <p:txBody>
          <a:bodyPr>
            <a:noAutofit/>
          </a:bodyPr>
          <a:lstStyle/>
          <a:p>
            <a:r>
              <a:rPr lang="en-US" sz="36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Capstone Project (Adventure Works Cycles)</a:t>
            </a:r>
            <a:br>
              <a:rPr lang="en-US" sz="36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CF0E9-78ED-30F1-5C00-BB572CE422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02080"/>
            <a:ext cx="9144000" cy="3855720"/>
          </a:xfrm>
        </p:spPr>
        <p:txBody>
          <a:bodyPr>
            <a:normAutofit lnSpcReduction="10000"/>
          </a:bodyPr>
          <a:lstStyle/>
          <a:p>
            <a:endParaRPr lang="en-US" b="1" dirty="0"/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Alok Jha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Roll No: P2527050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PGDM (Finance)</a:t>
            </a:r>
          </a:p>
          <a:p>
            <a:endParaRPr lang="en-US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Institute: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Thakur Global Business School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Year: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2025–2027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690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01BBE3D-3A26-B7EA-08A8-7194B01D6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140" y="758730"/>
            <a:ext cx="8158688" cy="498981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Background 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E6418107-CC7F-74BB-4582-F2CA3A990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56553" y="1950206"/>
            <a:ext cx="878698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Adventure Works Cycles is a multinational bicycle manufacturing company operating across North America, Europe, and Asia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company expanded operations by acquiring a manufacturing plant in Mexico, responsible for producing key subcomponents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aims to: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market share by targeting high-value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product availability through digital channels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 production costs to improve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899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8E35-EE9B-BE19-5D3D-9858F076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58613"/>
            <a:ext cx="9601196" cy="887308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B0CE78-19FA-AC5A-41E1-773BB3A2AA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07161" y="2489262"/>
            <a:ext cx="79187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analyze overall sales performance and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identify key products, categories, and markets driving revenue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understand customer behavior and purchasing patterns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evaluate business risks such as product and market concentration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build an interactive dashboard using Power BI for data-driven decision 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51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2D8E-DF1C-E5FB-69F0-359897E5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32" y="608349"/>
            <a:ext cx="6864669" cy="885171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Model Overview</a:t>
            </a:r>
            <a:br>
              <a:rPr lang="en-US" dirty="0"/>
            </a:br>
            <a:endParaRPr lang="en-US" dirty="0"/>
          </a:p>
        </p:txBody>
      </p:sp>
      <p:pic>
        <p:nvPicPr>
          <p:cNvPr id="16" name="Content Placeholder 15" descr="A screenshot of a computer">
            <a:extLst>
              <a:ext uri="{FF2B5EF4-FFF2-40B4-BE49-F238E27FC236}">
                <a16:creationId xmlns:a16="http://schemas.microsoft.com/office/drawing/2014/main" id="{8D69D972-7636-27DF-098A-391771ED7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1178560"/>
            <a:ext cx="10454640" cy="3294648"/>
          </a:xfr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74008CEA-5632-0DF3-CFAF-1462337A598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293813" y="4218326"/>
            <a:ext cx="82177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dataset consists of Sales, Customers, Products, Calendar, and Territory tables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star schema model is used to organize the data efficiently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Sales table acts as the central fact table, capturing transaction-level information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Customers, Products, Calendar, and Territory tables act as dimension tables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 between tables enable cross-filtering and interactive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modeling ensures accurate and efficient reporting in Power BI </a:t>
            </a:r>
          </a:p>
        </p:txBody>
      </p:sp>
    </p:spTree>
    <p:extLst>
      <p:ext uri="{BB962C8B-B14F-4D97-AF65-F5344CB8AC3E}">
        <p14:creationId xmlns:p14="http://schemas.microsoft.com/office/powerpoint/2010/main" val="3636142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31540-8E0B-58E9-8C30-25BDCCCD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707811"/>
            <a:ext cx="8287173" cy="938109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Overview Dashboard</a:t>
            </a:r>
          </a:p>
        </p:txBody>
      </p:sp>
      <p:pic>
        <p:nvPicPr>
          <p:cNvPr id="6" name="Content Placeholder 5" descr="A screenshot of a graph">
            <a:extLst>
              <a:ext uri="{FF2B5EF4-FFF2-40B4-BE49-F238E27FC236}">
                <a16:creationId xmlns:a16="http://schemas.microsoft.com/office/drawing/2014/main" id="{27882789-9C80-9964-1553-A0FCB702A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67" y="1553497"/>
            <a:ext cx="10390189" cy="413610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683EDE-8452-EC03-83C4-B2E7EAEBF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5689599"/>
            <a:ext cx="10390189" cy="938109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provides an overview of sales performance, product trends, and geographic distribution.</a:t>
            </a:r>
          </a:p>
        </p:txBody>
      </p:sp>
    </p:spTree>
    <p:extLst>
      <p:ext uri="{BB962C8B-B14F-4D97-AF65-F5344CB8AC3E}">
        <p14:creationId xmlns:p14="http://schemas.microsoft.com/office/powerpoint/2010/main" val="588475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17DA5-D328-6087-DA5F-960F1A47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1" y="685798"/>
            <a:ext cx="7453949" cy="59266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Sales Insights</a:t>
            </a:r>
          </a:p>
        </p:txBody>
      </p:sp>
      <p:pic>
        <p:nvPicPr>
          <p:cNvPr id="6" name="Content Placeholder 5" descr="A blue line graph with numbers&#10;&#10;AI-generated content may be incorrect.">
            <a:extLst>
              <a:ext uri="{FF2B5EF4-FFF2-40B4-BE49-F238E27FC236}">
                <a16:creationId xmlns:a16="http://schemas.microsoft.com/office/drawing/2014/main" id="{FB750034-12C3-3533-92B5-31C2A7B80D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185" y="1371608"/>
            <a:ext cx="9973627" cy="2580632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BEB4D355-D9DB-02A1-6AA1-7D17F590257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109186" y="3952240"/>
            <a:ext cx="997362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sales reached 29.36M with a strong profit margin of 41%, indicating high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highly concentrated in the Bikes category (~96%), creating significant product dependency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show a strong upward trend with a minor dip in 2012, followed by a peak in 2013 (16.4M)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sharp decline observed in 2014 is likely due to incomplete data, not actual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primarily concentrated in North America and Europe, with additional presence in Australia, indicating limited geographic diversification </a:t>
            </a:r>
          </a:p>
        </p:txBody>
      </p:sp>
    </p:spTree>
    <p:extLst>
      <p:ext uri="{BB962C8B-B14F-4D97-AF65-F5344CB8AC3E}">
        <p14:creationId xmlns:p14="http://schemas.microsoft.com/office/powerpoint/2010/main" val="4202732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03FF-9872-25B3-3D2F-C30355860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1" y="582887"/>
            <a:ext cx="8076331" cy="68170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Insights Dashboard</a:t>
            </a: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F4DB0E4C-FA0B-1CB6-BFB1-C2F8FBEF5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897" y="1388532"/>
            <a:ext cx="10304205" cy="41077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7FDD47-7DA5-81D3-88C1-37A5569CD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24" y="5774268"/>
            <a:ext cx="10032950" cy="33703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provides insights into customer behavior, purchasing patterns, and profitability analysis.</a:t>
            </a:r>
          </a:p>
        </p:txBody>
      </p:sp>
    </p:spTree>
    <p:extLst>
      <p:ext uri="{BB962C8B-B14F-4D97-AF65-F5344CB8AC3E}">
        <p14:creationId xmlns:p14="http://schemas.microsoft.com/office/powerpoint/2010/main" val="3644472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3A2C-B562-E3AE-AE9A-E962E0335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015" y="702731"/>
            <a:ext cx="9855970" cy="49680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Customer Insights</a:t>
            </a:r>
          </a:p>
        </p:txBody>
      </p:sp>
      <p:pic>
        <p:nvPicPr>
          <p:cNvPr id="6" name="Content Placeholder 5" descr="A graph with colorful dots&#10;&#10;AI-generated content may be incorrect.">
            <a:extLst>
              <a:ext uri="{FF2B5EF4-FFF2-40B4-BE49-F238E27FC236}">
                <a16:creationId xmlns:a16="http://schemas.microsoft.com/office/drawing/2014/main" id="{70F8CA0C-0024-E375-5E38-92F89CA45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9736" y="1322369"/>
            <a:ext cx="3124469" cy="3495437"/>
          </a:xfr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C0D95466-30F8-E0BD-5D40-0F6A2AAE56B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5741" y="985990"/>
            <a:ext cx="5181601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customers generate sales in the range of 13K–16K, indicating a balanced revenue distribution</a:t>
            </a:r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Profit ranges between 5K–7K, reflecting a consistent margin structure (~40%) across customers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Strong linear relationship between sales and profit indicates stable and predictable profitability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Bike sales are almost evenly distributed between male and female customers (14.3M vs 14.0M), indicating a balanced customer 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Absence of major outliers suggests uniform pricing and cost structure across customers </a:t>
            </a:r>
          </a:p>
          <a:p>
            <a:pPr algn="l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08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9FFF6F1-EF09-6A36-4396-F666F093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6530"/>
            <a:ext cx="9601196" cy="39931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Insights Dashboard</a:t>
            </a:r>
          </a:p>
        </p:txBody>
      </p:sp>
      <p:pic>
        <p:nvPicPr>
          <p:cNvPr id="10" name="Content Placeholder 9" descr="A screenshot of a graph&#10;&#10;AI-generated content may be incorrect.">
            <a:extLst>
              <a:ext uri="{FF2B5EF4-FFF2-40B4-BE49-F238E27FC236}">
                <a16:creationId xmlns:a16="http://schemas.microsoft.com/office/drawing/2014/main" id="{6D3DD56A-C46B-A406-9120-27C3B014A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" y="1097280"/>
            <a:ext cx="10109200" cy="4674870"/>
          </a:xfr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EF1E442-34B4-714D-CDBC-21744445AAEA}"/>
              </a:ext>
            </a:extLst>
          </p:cNvPr>
          <p:cNvSpPr txBox="1"/>
          <p:nvPr/>
        </p:nvSpPr>
        <p:spPr>
          <a:xfrm>
            <a:off x="883920" y="5705457"/>
            <a:ext cx="1053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provides insights into product performance, pricing behavior, and profitability across categories and subcategories</a:t>
            </a:r>
          </a:p>
        </p:txBody>
      </p:sp>
    </p:spTree>
    <p:extLst>
      <p:ext uri="{BB962C8B-B14F-4D97-AF65-F5344CB8AC3E}">
        <p14:creationId xmlns:p14="http://schemas.microsoft.com/office/powerpoint/2010/main" val="3899299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75DC-C743-0AB2-0B6D-07EBF4C9C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58613"/>
            <a:ext cx="9601196" cy="531707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Product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92C3773-0B10-1D65-0E48-C6D15A99FE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0" y="2202629"/>
            <a:ext cx="101560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driven primarily by specific subcategories, indicating uneven product contribution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Profitability varies across categories, highlighting differences in cost and pricing structure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High-price and low-price product segments both contribute to revenue, showing diverse pricing impact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products generate significantly higher profit, indicating key revenue drivers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 relationship between product sales and profit reflects consistent margin behavior </a:t>
            </a:r>
          </a:p>
        </p:txBody>
      </p:sp>
    </p:spTree>
    <p:extLst>
      <p:ext uri="{BB962C8B-B14F-4D97-AF65-F5344CB8AC3E}">
        <p14:creationId xmlns:p14="http://schemas.microsoft.com/office/powerpoint/2010/main" val="1472085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327951A-9941-F892-607A-A2477BFD5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66968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Strategic Insights &amp; Recommendations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C0154B3-8755-16D2-89C2-F365E00A33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0620" y="1526800"/>
            <a:ext cx="989076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highly concentrated in the Bikes category (~96%), creating significant product dependency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Product-level analysis shows that a few subcategories and products drive most sales and profit, indicating uneven contribution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concentrated in North America and Europe, with additional presence in Australia, limiting geographic diversification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profitability remains stable (~40% margins) with a balanced gender contribution (14.3M vs 14.0M)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Growth opportunities exist through product diversification, expansion into new markets, and optimizing product mix and pricing strategies </a:t>
            </a:r>
          </a:p>
        </p:txBody>
      </p:sp>
    </p:spTree>
    <p:extLst>
      <p:ext uri="{BB962C8B-B14F-4D97-AF65-F5344CB8AC3E}">
        <p14:creationId xmlns:p14="http://schemas.microsoft.com/office/powerpoint/2010/main" val="1353915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B1B6-3967-DC7F-F028-03D35B6C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b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3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C63D7C-5AB7-E6A3-1D3D-758C05776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1" y="2092743"/>
            <a:ext cx="960119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business demonstrates strong sales performance and high profitability (~41% margin)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is heavily concentrated in the Bikes category (~96%), creating product dependency risk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Product-level analysis shows that a limited number of subcategories and products drive most sales and profit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base is well distributed with stable margins (~40%), indicating consistent operational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are concentrated in developed markets, highlighting the need for geographic expansion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growth depends on diversification across products, markets, and optimization of product mix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55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6AAE-155E-934D-477B-0E44165FB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2447138"/>
            <a:ext cx="9601196" cy="1303867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05355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294</TotalTime>
  <Words>710</Words>
  <Application>Microsoft Office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Garamond</vt:lpstr>
      <vt:lpstr>Organic</vt:lpstr>
      <vt:lpstr>Capstone Project (Adventure Works Cycles) </vt:lpstr>
      <vt:lpstr>Project Background </vt:lpstr>
      <vt:lpstr>Objective of the Project</vt:lpstr>
      <vt:lpstr>Data &amp; Model Overview </vt:lpstr>
      <vt:lpstr>Sales Overview Dashboard</vt:lpstr>
      <vt:lpstr>Key Sales Insights</vt:lpstr>
      <vt:lpstr>Customer Insights Dashboard</vt:lpstr>
      <vt:lpstr>Key Customer Insights</vt:lpstr>
      <vt:lpstr>Product Insights Dashboard</vt:lpstr>
      <vt:lpstr>Key Product Insights</vt:lpstr>
      <vt:lpstr>Strategic Insights &amp; Recommendations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 Jha</dc:creator>
  <cp:lastModifiedBy>Alok Jha</cp:lastModifiedBy>
  <cp:revision>3</cp:revision>
  <dcterms:created xsi:type="dcterms:W3CDTF">2026-04-15T10:31:22Z</dcterms:created>
  <dcterms:modified xsi:type="dcterms:W3CDTF">2026-04-18T05:01:30Z</dcterms:modified>
</cp:coreProperties>
</file>